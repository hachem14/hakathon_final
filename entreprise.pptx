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2000000000000000000"/>
      <p:regular r:id="rId16"/>
    </p:embeddedFont>
    <p:embeddedFont>
      <p:font typeface="Poppins Light" charset="1" panose="02000000000000000000"/>
      <p:regular r:id="rId17"/>
    </p:embeddedFont>
    <p:embeddedFont>
      <p:font typeface="Poppins Light Bold" charset="1" panose="02000000000000000000"/>
      <p:regular r:id="rId18"/>
    </p:embeddedFont>
    <p:embeddedFont>
      <p:font typeface="Canva Sans Bold" charset="1" panose="020B0803030501040103"/>
      <p:regular r:id="rId22"/>
    </p:embeddedFont>
    <p:embeddedFont>
      <p:font typeface="Canva Sans" charset="1" panose="020B05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Nacim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04582" y="0"/>
            <a:ext cx="8799684" cy="10287000"/>
          </a:xfrm>
          <a:custGeom>
            <a:avLst/>
            <a:gdLst/>
            <a:ahLst/>
            <a:cxnLst/>
            <a:rect r="r" b="b" t="t" l="l"/>
            <a:pathLst>
              <a:path h="10287000" w="8799684">
                <a:moveTo>
                  <a:pt x="0" y="0"/>
                </a:moveTo>
                <a:lnTo>
                  <a:pt x="8799684" y="0"/>
                </a:lnTo>
                <a:lnTo>
                  <a:pt x="879968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0" t="-657" r="0" b="-657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19209469" cy="19050"/>
          </a:xfrm>
          <a:prstGeom prst="line">
            <a:avLst/>
          </a:prstGeom>
          <a:ln cap="flat" w="38100">
            <a:solidFill>
              <a:srgbClr val="B6DD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066109" y="2368841"/>
            <a:ext cx="3648656" cy="4265349"/>
          </a:xfrm>
          <a:custGeom>
            <a:avLst/>
            <a:gdLst/>
            <a:ahLst/>
            <a:cxnLst/>
            <a:rect r="r" b="b" t="t" l="l"/>
            <a:pathLst>
              <a:path h="4265349" w="3648656">
                <a:moveTo>
                  <a:pt x="0" y="0"/>
                </a:moveTo>
                <a:lnTo>
                  <a:pt x="3648656" y="0"/>
                </a:lnTo>
                <a:lnTo>
                  <a:pt x="3648656" y="4265349"/>
                </a:lnTo>
                <a:lnTo>
                  <a:pt x="0" y="42653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57" r="0" b="-65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3038" y="2845775"/>
            <a:ext cx="25357648" cy="1655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89"/>
              </a:lnSpc>
            </a:pPr>
            <a:r>
              <a:rPr lang="en-US" b="true" sz="11971" spc="-299">
                <a:solidFill>
                  <a:srgbClr val="1D647A"/>
                </a:solidFill>
                <a:latin typeface="Poppins Bold"/>
                <a:ea typeface="Poppins Bold"/>
                <a:cs typeface="Poppins Bold"/>
                <a:sym typeface="Poppins Bold"/>
              </a:rPr>
              <a:t>Pharmathech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680018"/>
            <a:ext cx="8175724" cy="524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08"/>
              </a:lnSpc>
            </a:pPr>
            <a:r>
              <a:rPr lang="en-US" sz="3781" spc="94">
                <a:solidFill>
                  <a:srgbClr val="1D647A"/>
                </a:solidFill>
                <a:latin typeface="Poppins Light"/>
                <a:ea typeface="Poppins Light"/>
                <a:cs typeface="Poppins Light"/>
                <a:sym typeface="Poppins Light"/>
              </a:rPr>
              <a:t>Pour des médicaments sûrs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8680018"/>
            <a:ext cx="8175724" cy="524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008"/>
              </a:lnSpc>
            </a:pPr>
            <a:r>
              <a:rPr lang="en-US" sz="3781" spc="94">
                <a:solidFill>
                  <a:srgbClr val="1D647A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3t power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2116" y="5056351"/>
            <a:ext cx="7282234" cy="91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42"/>
              </a:lnSpc>
            </a:pPr>
            <a:r>
              <a:rPr lang="en-US" b="true" sz="6643">
                <a:solidFill>
                  <a:srgbClr val="1D647A"/>
                </a:solidFill>
                <a:latin typeface="Poppins Bold"/>
                <a:ea typeface="Poppins Bold"/>
                <a:cs typeface="Poppins Bold"/>
                <a:sym typeface="Poppins Bold"/>
              </a:rPr>
              <a:t>MEDSAFE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43072" y="1307973"/>
            <a:ext cx="5116228" cy="6453449"/>
          </a:xfrm>
          <a:custGeom>
            <a:avLst/>
            <a:gdLst/>
            <a:ahLst/>
            <a:cxnLst/>
            <a:rect r="r" b="b" t="t" l="l"/>
            <a:pathLst>
              <a:path h="6453449" w="5116228">
                <a:moveTo>
                  <a:pt x="0" y="0"/>
                </a:moveTo>
                <a:lnTo>
                  <a:pt x="5116228" y="0"/>
                </a:lnTo>
                <a:lnTo>
                  <a:pt x="5116228" y="6453449"/>
                </a:lnTo>
                <a:lnTo>
                  <a:pt x="0" y="64534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861" r="-6296" b="-134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6717" y="730203"/>
            <a:ext cx="12143218" cy="123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46"/>
              </a:lnSpc>
            </a:pPr>
            <a:r>
              <a:rPr lang="en-US" sz="8600" spc="-215">
                <a:solidFill>
                  <a:srgbClr val="1D647A"/>
                </a:solidFill>
                <a:latin typeface="Poppins Bold"/>
                <a:ea typeface="Poppins Bold"/>
                <a:cs typeface="Poppins Bold"/>
                <a:sym typeface="Poppins Bold"/>
              </a:rPr>
              <a:t>|</a:t>
            </a:r>
            <a:r>
              <a:rPr lang="en-US" sz="8600" spc="-215">
                <a:solidFill>
                  <a:srgbClr val="1D647A"/>
                </a:solidFill>
                <a:latin typeface="Poppins Bold"/>
                <a:ea typeface="Poppins Bold"/>
                <a:cs typeface="Poppins Bold"/>
                <a:sym typeface="Poppins Bold"/>
              </a:rPr>
              <a:t>SYNTHÈSE DU PROJET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16569"/>
            <a:ext cx="5351177" cy="1058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6"/>
              </a:lnSpc>
              <a:spcBef>
                <a:spcPct val="0"/>
              </a:spcBef>
            </a:pPr>
            <a:r>
              <a:rPr lang="en-US" sz="7348" spc="-183" u="sng">
                <a:solidFill>
                  <a:srgbClr val="007547"/>
                </a:solidFill>
                <a:latin typeface="Poppins Bold"/>
                <a:ea typeface="Poppins Bold"/>
                <a:cs typeface="Poppins Bold"/>
                <a:sym typeface="Poppins Bold"/>
              </a:rPr>
              <a:t>Le concept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6849" y="4996944"/>
            <a:ext cx="10382954" cy="172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  <a:spcBef>
                <a:spcPct val="0"/>
              </a:spcBef>
            </a:pPr>
            <a:r>
              <a:rPr lang="en-US" sz="4073" spc="-101">
                <a:solidFill>
                  <a:srgbClr val="1D647A"/>
                </a:solidFill>
                <a:latin typeface="Poppins Bold"/>
                <a:ea typeface="Poppins Bold"/>
                <a:cs typeface="Poppins Bold"/>
                <a:sym typeface="Poppins Bold"/>
              </a:rPr>
              <a:t>    MedSafe est une plateforme qui accompagne le patient dans tout le parcours des soins.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45387" y="450520"/>
            <a:ext cx="1493387" cy="1768764"/>
          </a:xfrm>
          <a:custGeom>
            <a:avLst/>
            <a:gdLst/>
            <a:ahLst/>
            <a:cxnLst/>
            <a:rect r="r" b="b" t="t" l="l"/>
            <a:pathLst>
              <a:path h="1768764" w="1493387">
                <a:moveTo>
                  <a:pt x="0" y="0"/>
                </a:moveTo>
                <a:lnTo>
                  <a:pt x="1493387" y="0"/>
                </a:lnTo>
                <a:lnTo>
                  <a:pt x="1493387" y="1768763"/>
                </a:lnTo>
                <a:lnTo>
                  <a:pt x="0" y="17687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0010" y="876349"/>
            <a:ext cx="10135742" cy="1260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2"/>
              </a:lnSpc>
              <a:spcBef>
                <a:spcPct val="0"/>
              </a:spcBef>
            </a:pPr>
            <a:r>
              <a:rPr lang="en-US" sz="8785" spc="-219">
                <a:solidFill>
                  <a:srgbClr val="1D647A"/>
                </a:solidFill>
                <a:latin typeface="Poppins Bold"/>
                <a:ea typeface="Poppins Bold"/>
                <a:cs typeface="Poppins Bold"/>
                <a:sym typeface="Poppins Bold"/>
              </a:rPr>
              <a:t>| PROBLÉMATIQUE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655046"/>
            <a:ext cx="6787560" cy="6514176"/>
            <a:chOff x="0" y="0"/>
            <a:chExt cx="9050080" cy="868556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050080" cy="8685568"/>
              <a:chOff x="0" y="0"/>
              <a:chExt cx="1378604" cy="132307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378604" cy="1323078"/>
              </a:xfrm>
              <a:custGeom>
                <a:avLst/>
                <a:gdLst/>
                <a:ahLst/>
                <a:cxnLst/>
                <a:rect r="r" b="b" t="t" l="l"/>
                <a:pathLst>
                  <a:path h="1323078" w="1378604">
                    <a:moveTo>
                      <a:pt x="122761" y="0"/>
                    </a:moveTo>
                    <a:lnTo>
                      <a:pt x="1255843" y="0"/>
                    </a:lnTo>
                    <a:cubicBezTo>
                      <a:pt x="1288402" y="0"/>
                      <a:pt x="1319626" y="12934"/>
                      <a:pt x="1342649" y="35956"/>
                    </a:cubicBezTo>
                    <a:cubicBezTo>
                      <a:pt x="1365671" y="58978"/>
                      <a:pt x="1378604" y="90203"/>
                      <a:pt x="1378604" y="122761"/>
                    </a:cubicBezTo>
                    <a:lnTo>
                      <a:pt x="1378604" y="1200317"/>
                    </a:lnTo>
                    <a:cubicBezTo>
                      <a:pt x="1378604" y="1268116"/>
                      <a:pt x="1323642" y="1323078"/>
                      <a:pt x="1255843" y="1323078"/>
                    </a:cubicBezTo>
                    <a:lnTo>
                      <a:pt x="122761" y="1323078"/>
                    </a:lnTo>
                    <a:cubicBezTo>
                      <a:pt x="90203" y="1323078"/>
                      <a:pt x="58978" y="1310144"/>
                      <a:pt x="35956" y="1287122"/>
                    </a:cubicBezTo>
                    <a:cubicBezTo>
                      <a:pt x="12934" y="1264100"/>
                      <a:pt x="0" y="1232875"/>
                      <a:pt x="0" y="1200317"/>
                    </a:cubicBezTo>
                    <a:lnTo>
                      <a:pt x="0" y="122761"/>
                    </a:lnTo>
                    <a:cubicBezTo>
                      <a:pt x="0" y="90203"/>
                      <a:pt x="12934" y="58978"/>
                      <a:pt x="35956" y="35956"/>
                    </a:cubicBezTo>
                    <a:cubicBezTo>
                      <a:pt x="58978" y="12934"/>
                      <a:pt x="90203" y="0"/>
                      <a:pt x="122761" y="0"/>
                    </a:cubicBezTo>
                    <a:close/>
                  </a:path>
                </a:pathLst>
              </a:custGeom>
              <a:solidFill>
                <a:srgbClr val="C1D2A1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378604" cy="13611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2897517" y="422603"/>
              <a:ext cx="3255045" cy="2506385"/>
            </a:xfrm>
            <a:custGeom>
              <a:avLst/>
              <a:gdLst/>
              <a:ahLst/>
              <a:cxnLst/>
              <a:rect r="r" b="b" t="t" l="l"/>
              <a:pathLst>
                <a:path h="2506385" w="3255045">
                  <a:moveTo>
                    <a:pt x="0" y="0"/>
                  </a:moveTo>
                  <a:lnTo>
                    <a:pt x="3255045" y="0"/>
                  </a:lnTo>
                  <a:lnTo>
                    <a:pt x="3255045" y="2506384"/>
                  </a:lnTo>
                  <a:lnTo>
                    <a:pt x="0" y="2506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1342436" y="3473668"/>
              <a:ext cx="6365208" cy="8687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21"/>
                </a:lnSpc>
                <a:spcBef>
                  <a:spcPct val="0"/>
                </a:spcBef>
              </a:pPr>
              <a:r>
                <a:rPr lang="en-US" b="true" sz="3943">
                  <a:solidFill>
                    <a:srgbClr val="00754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Risque d’intraction 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12229" y="4723449"/>
              <a:ext cx="8299418" cy="3327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93"/>
                </a:lnSpc>
              </a:pPr>
              <a:r>
                <a:rPr lang="en-US" sz="285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Risques élevés d'interactions médicamenteuses </a:t>
              </a:r>
            </a:p>
            <a:p>
              <a:pPr algn="ctr">
                <a:lnSpc>
                  <a:spcPts val="3993"/>
                </a:lnSpc>
              </a:pPr>
              <a:r>
                <a:rPr lang="en-US" sz="285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et de dosages incorrects en raison</a:t>
              </a:r>
            </a:p>
            <a:p>
              <a:pPr algn="ctr">
                <a:lnSpc>
                  <a:spcPts val="3993"/>
                </a:lnSpc>
                <a:spcBef>
                  <a:spcPct val="0"/>
                </a:spcBef>
              </a:pPr>
              <a:r>
                <a:rPr lang="en-US" sz="285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du manque de surveillance en temps réel.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1119" y="2655046"/>
            <a:ext cx="6787655" cy="6514176"/>
            <a:chOff x="0" y="0"/>
            <a:chExt cx="9050207" cy="8685568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050207" cy="8685568"/>
              <a:chOff x="0" y="0"/>
              <a:chExt cx="1378604" cy="132306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78604" cy="1323060"/>
              </a:xfrm>
              <a:custGeom>
                <a:avLst/>
                <a:gdLst/>
                <a:ahLst/>
                <a:cxnLst/>
                <a:rect r="r" b="b" t="t" l="l"/>
                <a:pathLst>
                  <a:path h="1323060" w="1378604">
                    <a:moveTo>
                      <a:pt x="123904" y="0"/>
                    </a:moveTo>
                    <a:lnTo>
                      <a:pt x="1254701" y="0"/>
                    </a:lnTo>
                    <a:cubicBezTo>
                      <a:pt x="1323131" y="0"/>
                      <a:pt x="1378604" y="55474"/>
                      <a:pt x="1378604" y="123904"/>
                    </a:cubicBezTo>
                    <a:lnTo>
                      <a:pt x="1378604" y="1199156"/>
                    </a:lnTo>
                    <a:cubicBezTo>
                      <a:pt x="1378604" y="1267586"/>
                      <a:pt x="1323131" y="1323060"/>
                      <a:pt x="1254701" y="1323060"/>
                    </a:cubicBezTo>
                    <a:lnTo>
                      <a:pt x="123904" y="1323060"/>
                    </a:lnTo>
                    <a:cubicBezTo>
                      <a:pt x="55474" y="1323060"/>
                      <a:pt x="0" y="1267586"/>
                      <a:pt x="0" y="1199156"/>
                    </a:cubicBezTo>
                    <a:lnTo>
                      <a:pt x="0" y="123904"/>
                    </a:lnTo>
                    <a:cubicBezTo>
                      <a:pt x="0" y="55474"/>
                      <a:pt x="55474" y="0"/>
                      <a:pt x="123904" y="0"/>
                    </a:cubicBezTo>
                    <a:close/>
                  </a:path>
                </a:pathLst>
              </a:custGeom>
              <a:solidFill>
                <a:srgbClr val="C1D2A1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378604" cy="13611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3489791" y="507998"/>
              <a:ext cx="2070625" cy="2641946"/>
            </a:xfrm>
            <a:custGeom>
              <a:avLst/>
              <a:gdLst/>
              <a:ahLst/>
              <a:cxnLst/>
              <a:rect r="r" b="b" t="t" l="l"/>
              <a:pathLst>
                <a:path h="2641946" w="2070625">
                  <a:moveTo>
                    <a:pt x="0" y="0"/>
                  </a:moveTo>
                  <a:lnTo>
                    <a:pt x="2070625" y="0"/>
                  </a:lnTo>
                  <a:lnTo>
                    <a:pt x="2070625" y="2641946"/>
                  </a:lnTo>
                  <a:lnTo>
                    <a:pt x="0" y="2641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 rot="0">
              <a:off x="1831942" y="3439830"/>
              <a:ext cx="5386323" cy="902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16"/>
                </a:lnSpc>
                <a:spcBef>
                  <a:spcPct val="0"/>
                </a:spcBef>
              </a:pPr>
              <a:r>
                <a:rPr lang="en-US" b="true" sz="4083">
                  <a:solidFill>
                    <a:srgbClr val="00754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self médication 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55130" y="4987339"/>
              <a:ext cx="8029957" cy="2616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24"/>
                </a:lnSpc>
                <a:spcBef>
                  <a:spcPct val="0"/>
                </a:spcBef>
              </a:pPr>
              <a:r>
                <a:rPr lang="en-US" sz="280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Le patient dispose souvent de médicaments sans consultation médicale, ce qui peut entraîner une consommation dangereuse.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96517" y="493514"/>
            <a:ext cx="2033759" cy="2408778"/>
          </a:xfrm>
          <a:custGeom>
            <a:avLst/>
            <a:gdLst/>
            <a:ahLst/>
            <a:cxnLst/>
            <a:rect r="r" b="b" t="t" l="l"/>
            <a:pathLst>
              <a:path h="2408778" w="2033759">
                <a:moveTo>
                  <a:pt x="0" y="0"/>
                </a:moveTo>
                <a:lnTo>
                  <a:pt x="2033759" y="0"/>
                </a:lnTo>
                <a:lnTo>
                  <a:pt x="2033759" y="2408778"/>
                </a:lnTo>
                <a:lnTo>
                  <a:pt x="0" y="2408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18185" y="3652543"/>
            <a:ext cx="7810955" cy="4637755"/>
            <a:chOff x="0" y="0"/>
            <a:chExt cx="10414607" cy="61836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414607" cy="6183673"/>
            </a:xfrm>
            <a:custGeom>
              <a:avLst/>
              <a:gdLst/>
              <a:ahLst/>
              <a:cxnLst/>
              <a:rect r="r" b="b" t="t" l="l"/>
              <a:pathLst>
                <a:path h="6183673" w="10414607">
                  <a:moveTo>
                    <a:pt x="0" y="0"/>
                  </a:moveTo>
                  <a:lnTo>
                    <a:pt x="10414607" y="0"/>
                  </a:lnTo>
                  <a:lnTo>
                    <a:pt x="10414607" y="6183673"/>
                  </a:lnTo>
                  <a:lnTo>
                    <a:pt x="0" y="618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65820" y="186987"/>
              <a:ext cx="7891218" cy="4759645"/>
            </a:xfrm>
            <a:custGeom>
              <a:avLst/>
              <a:gdLst/>
              <a:ahLst/>
              <a:cxnLst/>
              <a:rect r="r" b="b" t="t" l="l"/>
              <a:pathLst>
                <a:path h="4759645" w="7891218">
                  <a:moveTo>
                    <a:pt x="0" y="0"/>
                  </a:moveTo>
                  <a:lnTo>
                    <a:pt x="7891217" y="0"/>
                  </a:lnTo>
                  <a:lnTo>
                    <a:pt x="7891217" y="4759645"/>
                  </a:lnTo>
                  <a:lnTo>
                    <a:pt x="0" y="4759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25" t="-132" r="-11374" b="-1872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60569" y="2058601"/>
            <a:ext cx="5811827" cy="2415797"/>
            <a:chOff x="0" y="0"/>
            <a:chExt cx="1530687" cy="6362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30687" cy="636259"/>
            </a:xfrm>
            <a:custGeom>
              <a:avLst/>
              <a:gdLst/>
              <a:ahLst/>
              <a:cxnLst/>
              <a:rect r="r" b="b" t="t" l="l"/>
              <a:pathLst>
                <a:path h="636259" w="1530687">
                  <a:moveTo>
                    <a:pt x="62609" y="0"/>
                  </a:moveTo>
                  <a:lnTo>
                    <a:pt x="1468078" y="0"/>
                  </a:lnTo>
                  <a:cubicBezTo>
                    <a:pt x="1502656" y="0"/>
                    <a:pt x="1530687" y="28031"/>
                    <a:pt x="1530687" y="62609"/>
                  </a:cubicBezTo>
                  <a:lnTo>
                    <a:pt x="1530687" y="573651"/>
                  </a:lnTo>
                  <a:cubicBezTo>
                    <a:pt x="1530687" y="608229"/>
                    <a:pt x="1502656" y="636259"/>
                    <a:pt x="1468078" y="636259"/>
                  </a:cubicBezTo>
                  <a:lnTo>
                    <a:pt x="62609" y="636259"/>
                  </a:lnTo>
                  <a:cubicBezTo>
                    <a:pt x="28031" y="636259"/>
                    <a:pt x="0" y="608229"/>
                    <a:pt x="0" y="573651"/>
                  </a:cubicBezTo>
                  <a:lnTo>
                    <a:pt x="0" y="62609"/>
                  </a:lnTo>
                  <a:cubicBezTo>
                    <a:pt x="0" y="28031"/>
                    <a:pt x="28031" y="0"/>
                    <a:pt x="62609" y="0"/>
                  </a:cubicBezTo>
                  <a:close/>
                </a:path>
              </a:pathLst>
            </a:custGeom>
            <a:solidFill>
              <a:srgbClr val="C1D2A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530687" cy="693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  <a:r>
                <a:rPr lang="en-US" sz="26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Développement</a:t>
              </a: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d’un chatbot basé sur un modèle d’intelligence artificielle entraîné pour analyser les interactions médicamenteuses.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74067" y="586653"/>
            <a:ext cx="10352816" cy="1111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b="true" sz="6500">
                <a:solidFill>
                  <a:srgbClr val="1D64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| LA SOLUTION MEDSAFE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39238" y="4962842"/>
            <a:ext cx="952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2660569" y="4763521"/>
            <a:ext cx="5811827" cy="2415797"/>
            <a:chOff x="0" y="0"/>
            <a:chExt cx="1530687" cy="6362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30687" cy="636259"/>
            </a:xfrm>
            <a:custGeom>
              <a:avLst/>
              <a:gdLst/>
              <a:ahLst/>
              <a:cxnLst/>
              <a:rect r="r" b="b" t="t" l="l"/>
              <a:pathLst>
                <a:path h="636259" w="1530687">
                  <a:moveTo>
                    <a:pt x="62609" y="0"/>
                  </a:moveTo>
                  <a:lnTo>
                    <a:pt x="1468078" y="0"/>
                  </a:lnTo>
                  <a:cubicBezTo>
                    <a:pt x="1502656" y="0"/>
                    <a:pt x="1530687" y="28031"/>
                    <a:pt x="1530687" y="62609"/>
                  </a:cubicBezTo>
                  <a:lnTo>
                    <a:pt x="1530687" y="573651"/>
                  </a:lnTo>
                  <a:cubicBezTo>
                    <a:pt x="1530687" y="608229"/>
                    <a:pt x="1502656" y="636259"/>
                    <a:pt x="1468078" y="636259"/>
                  </a:cubicBezTo>
                  <a:lnTo>
                    <a:pt x="62609" y="636259"/>
                  </a:lnTo>
                  <a:cubicBezTo>
                    <a:pt x="28031" y="636259"/>
                    <a:pt x="0" y="608229"/>
                    <a:pt x="0" y="573651"/>
                  </a:cubicBezTo>
                  <a:lnTo>
                    <a:pt x="0" y="62609"/>
                  </a:lnTo>
                  <a:cubicBezTo>
                    <a:pt x="0" y="28031"/>
                    <a:pt x="28031" y="0"/>
                    <a:pt x="62609" y="0"/>
                  </a:cubicBezTo>
                  <a:close/>
                </a:path>
              </a:pathLst>
            </a:custGeom>
            <a:solidFill>
              <a:srgbClr val="C1D2A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530687" cy="693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  <a:r>
                <a:rPr lang="en-US" sz="26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création</a:t>
              </a:r>
              <a:r>
                <a:rPr lang="en-US" sz="26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d’une platforme quelle asure un dosiyé médicle un suivi puor tout les pation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660569" y="7541269"/>
            <a:ext cx="5811827" cy="2415797"/>
            <a:chOff x="0" y="0"/>
            <a:chExt cx="1530687" cy="6362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0687" cy="636259"/>
            </a:xfrm>
            <a:custGeom>
              <a:avLst/>
              <a:gdLst/>
              <a:ahLst/>
              <a:cxnLst/>
              <a:rect r="r" b="b" t="t" l="l"/>
              <a:pathLst>
                <a:path h="636259" w="1530687">
                  <a:moveTo>
                    <a:pt x="62609" y="0"/>
                  </a:moveTo>
                  <a:lnTo>
                    <a:pt x="1468078" y="0"/>
                  </a:lnTo>
                  <a:cubicBezTo>
                    <a:pt x="1502656" y="0"/>
                    <a:pt x="1530687" y="28031"/>
                    <a:pt x="1530687" y="62609"/>
                  </a:cubicBezTo>
                  <a:lnTo>
                    <a:pt x="1530687" y="573651"/>
                  </a:lnTo>
                  <a:cubicBezTo>
                    <a:pt x="1530687" y="608229"/>
                    <a:pt x="1502656" y="636259"/>
                    <a:pt x="1468078" y="636259"/>
                  </a:cubicBezTo>
                  <a:lnTo>
                    <a:pt x="62609" y="636259"/>
                  </a:lnTo>
                  <a:cubicBezTo>
                    <a:pt x="28031" y="636259"/>
                    <a:pt x="0" y="608229"/>
                    <a:pt x="0" y="573651"/>
                  </a:cubicBezTo>
                  <a:lnTo>
                    <a:pt x="0" y="62609"/>
                  </a:lnTo>
                  <a:cubicBezTo>
                    <a:pt x="0" y="28031"/>
                    <a:pt x="28031" y="0"/>
                    <a:pt x="62609" y="0"/>
                  </a:cubicBezTo>
                  <a:close/>
                </a:path>
              </a:pathLst>
            </a:custGeom>
            <a:solidFill>
              <a:srgbClr val="C1D2A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530687" cy="693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  <a:r>
                <a:rPr lang="en-US" b="true" sz="26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Un environnement</a:t>
              </a:r>
              <a:r>
                <a:rPr lang="en-US" b="true" sz="26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médical </a:t>
              </a:r>
              <a:r>
                <a:rPr lang="en-US" sz="2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interconnecté  une communication efficace entre les différents acteurs de santé.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5945" y="2057400"/>
            <a:ext cx="6879312" cy="3086100"/>
            <a:chOff x="0" y="0"/>
            <a:chExt cx="181183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1835" cy="812800"/>
            </a:xfrm>
            <a:custGeom>
              <a:avLst/>
              <a:gdLst/>
              <a:ahLst/>
              <a:cxnLst/>
              <a:rect r="r" b="b" t="t" l="l"/>
              <a:pathLst>
                <a:path h="812800" w="1811835">
                  <a:moveTo>
                    <a:pt x="19132" y="0"/>
                  </a:moveTo>
                  <a:lnTo>
                    <a:pt x="1792704" y="0"/>
                  </a:lnTo>
                  <a:cubicBezTo>
                    <a:pt x="1797778" y="0"/>
                    <a:pt x="1802644" y="2016"/>
                    <a:pt x="1806232" y="5604"/>
                  </a:cubicBezTo>
                  <a:cubicBezTo>
                    <a:pt x="1809820" y="9191"/>
                    <a:pt x="1811835" y="14058"/>
                    <a:pt x="1811835" y="19132"/>
                  </a:cubicBezTo>
                  <a:lnTo>
                    <a:pt x="1811835" y="793668"/>
                  </a:lnTo>
                  <a:cubicBezTo>
                    <a:pt x="1811835" y="798742"/>
                    <a:pt x="1809820" y="803609"/>
                    <a:pt x="1806232" y="807196"/>
                  </a:cubicBezTo>
                  <a:cubicBezTo>
                    <a:pt x="1802644" y="810784"/>
                    <a:pt x="1797778" y="812800"/>
                    <a:pt x="1792704" y="812800"/>
                  </a:cubicBezTo>
                  <a:lnTo>
                    <a:pt x="19132" y="812800"/>
                  </a:lnTo>
                  <a:cubicBezTo>
                    <a:pt x="14058" y="812800"/>
                    <a:pt x="9191" y="810784"/>
                    <a:pt x="5604" y="807196"/>
                  </a:cubicBezTo>
                  <a:cubicBezTo>
                    <a:pt x="2016" y="803609"/>
                    <a:pt x="0" y="798742"/>
                    <a:pt x="0" y="793668"/>
                  </a:cubicBezTo>
                  <a:lnTo>
                    <a:pt x="0" y="19132"/>
                  </a:lnTo>
                  <a:cubicBezTo>
                    <a:pt x="0" y="14058"/>
                    <a:pt x="2016" y="9191"/>
                    <a:pt x="5604" y="5604"/>
                  </a:cubicBezTo>
                  <a:cubicBezTo>
                    <a:pt x="9191" y="2016"/>
                    <a:pt x="14058" y="0"/>
                    <a:pt x="19132" y="0"/>
                  </a:cubicBezTo>
                  <a:close/>
                </a:path>
              </a:pathLst>
            </a:custGeom>
            <a:solidFill>
              <a:srgbClr val="C1D2A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1183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66907" y="2188092"/>
            <a:ext cx="742328" cy="845957"/>
          </a:xfrm>
          <a:custGeom>
            <a:avLst/>
            <a:gdLst/>
            <a:ahLst/>
            <a:cxnLst/>
            <a:rect r="r" b="b" t="t" l="l"/>
            <a:pathLst>
              <a:path h="845957" w="742328">
                <a:moveTo>
                  <a:pt x="0" y="0"/>
                </a:moveTo>
                <a:lnTo>
                  <a:pt x="742328" y="0"/>
                </a:lnTo>
                <a:lnTo>
                  <a:pt x="742328" y="845957"/>
                </a:lnTo>
                <a:lnTo>
                  <a:pt x="0" y="845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157873" y="2057400"/>
            <a:ext cx="6514182" cy="3086100"/>
            <a:chOff x="0" y="0"/>
            <a:chExt cx="1715669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15669" cy="812800"/>
            </a:xfrm>
            <a:custGeom>
              <a:avLst/>
              <a:gdLst/>
              <a:ahLst/>
              <a:cxnLst/>
              <a:rect r="r" b="b" t="t" l="l"/>
              <a:pathLst>
                <a:path h="812800" w="1715669">
                  <a:moveTo>
                    <a:pt x="20204" y="0"/>
                  </a:moveTo>
                  <a:lnTo>
                    <a:pt x="1695465" y="0"/>
                  </a:lnTo>
                  <a:cubicBezTo>
                    <a:pt x="1706624" y="0"/>
                    <a:pt x="1715669" y="9046"/>
                    <a:pt x="1715669" y="20204"/>
                  </a:cubicBezTo>
                  <a:lnTo>
                    <a:pt x="1715669" y="792596"/>
                  </a:lnTo>
                  <a:cubicBezTo>
                    <a:pt x="1715669" y="803754"/>
                    <a:pt x="1706624" y="812800"/>
                    <a:pt x="1695465" y="812800"/>
                  </a:cubicBezTo>
                  <a:lnTo>
                    <a:pt x="20204" y="812800"/>
                  </a:lnTo>
                  <a:cubicBezTo>
                    <a:pt x="9046" y="812800"/>
                    <a:pt x="0" y="803754"/>
                    <a:pt x="0" y="792596"/>
                  </a:cubicBezTo>
                  <a:lnTo>
                    <a:pt x="0" y="20204"/>
                  </a:lnTo>
                  <a:cubicBezTo>
                    <a:pt x="0" y="9046"/>
                    <a:pt x="9046" y="0"/>
                    <a:pt x="20204" y="0"/>
                  </a:cubicBezTo>
                  <a:close/>
                </a:path>
              </a:pathLst>
            </a:custGeom>
            <a:solidFill>
              <a:srgbClr val="C1D2A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1566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163632" y="2188092"/>
            <a:ext cx="979097" cy="976649"/>
          </a:xfrm>
          <a:custGeom>
            <a:avLst/>
            <a:gdLst/>
            <a:ahLst/>
            <a:cxnLst/>
            <a:rect r="r" b="b" t="t" l="l"/>
            <a:pathLst>
              <a:path h="976649" w="979097">
                <a:moveTo>
                  <a:pt x="0" y="0"/>
                </a:moveTo>
                <a:lnTo>
                  <a:pt x="979097" y="0"/>
                </a:lnTo>
                <a:lnTo>
                  <a:pt x="979097" y="976649"/>
                </a:lnTo>
                <a:lnTo>
                  <a:pt x="0" y="9766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292936" y="73266"/>
            <a:ext cx="1995064" cy="2362948"/>
          </a:xfrm>
          <a:custGeom>
            <a:avLst/>
            <a:gdLst/>
            <a:ahLst/>
            <a:cxnLst/>
            <a:rect r="r" b="b" t="t" l="l"/>
            <a:pathLst>
              <a:path h="2362948" w="1995064">
                <a:moveTo>
                  <a:pt x="0" y="0"/>
                </a:moveTo>
                <a:lnTo>
                  <a:pt x="1995064" y="0"/>
                </a:lnTo>
                <a:lnTo>
                  <a:pt x="1995064" y="2362948"/>
                </a:lnTo>
                <a:lnTo>
                  <a:pt x="0" y="23629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648023" y="5543550"/>
            <a:ext cx="4484885" cy="6998157"/>
          </a:xfrm>
          <a:custGeom>
            <a:avLst/>
            <a:gdLst/>
            <a:ahLst/>
            <a:cxnLst/>
            <a:rect r="r" b="b" t="t" l="l"/>
            <a:pathLst>
              <a:path h="6998157" w="4484885">
                <a:moveTo>
                  <a:pt x="0" y="0"/>
                </a:moveTo>
                <a:lnTo>
                  <a:pt x="4484885" y="0"/>
                </a:lnTo>
                <a:lnTo>
                  <a:pt x="4484885" y="6998157"/>
                </a:lnTo>
                <a:lnTo>
                  <a:pt x="0" y="69981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743" t="-10155" r="-2639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155092" y="5405236"/>
            <a:ext cx="4593723" cy="6977570"/>
          </a:xfrm>
          <a:custGeom>
            <a:avLst/>
            <a:gdLst/>
            <a:ahLst/>
            <a:cxnLst/>
            <a:rect r="r" b="b" t="t" l="l"/>
            <a:pathLst>
              <a:path h="6977570" w="4593723">
                <a:moveTo>
                  <a:pt x="0" y="0"/>
                </a:moveTo>
                <a:lnTo>
                  <a:pt x="4593723" y="0"/>
                </a:lnTo>
                <a:lnTo>
                  <a:pt x="4593723" y="6977570"/>
                </a:lnTo>
                <a:lnTo>
                  <a:pt x="0" y="69775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274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50595" y="628650"/>
            <a:ext cx="980258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1D64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|PHARMACIE &amp; MÉDECINS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09235" y="2159645"/>
            <a:ext cx="3899410" cy="69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  <a:spcBef>
                <a:spcPct val="0"/>
              </a:spcBef>
            </a:pPr>
            <a:r>
              <a:rPr lang="en-US" b="true" sz="4100">
                <a:solidFill>
                  <a:srgbClr val="0075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Pharma search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59984" y="2231535"/>
            <a:ext cx="3640435" cy="153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6"/>
              </a:lnSpc>
            </a:pPr>
            <a:r>
              <a:rPr lang="en-US" sz="4461" b="true">
                <a:solidFill>
                  <a:srgbClr val="0075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______________</a:t>
            </a:r>
          </a:p>
          <a:p>
            <a:pPr algn="ctr">
              <a:lnSpc>
                <a:spcPts val="6246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730053" y="3543300"/>
            <a:ext cx="6396115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Géolocalisation, gestion des stocks en temps réel et demandes de livraison à domicile.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61113" y="2253551"/>
            <a:ext cx="3707720" cy="69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  <a:spcBef>
                <a:spcPct val="0"/>
              </a:spcBef>
            </a:pPr>
            <a:r>
              <a:rPr lang="en-US" b="true" sz="4100">
                <a:solidFill>
                  <a:srgbClr val="0075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Doctor search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61113" y="2469525"/>
            <a:ext cx="3602551" cy="655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8"/>
              </a:lnSpc>
              <a:spcBef>
                <a:spcPct val="0"/>
              </a:spcBef>
            </a:pPr>
            <a:r>
              <a:rPr lang="en-US" b="true" sz="386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________________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63632" y="3509536"/>
            <a:ext cx="6208372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Recherche par spécialité, accès aux CV,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avis vérifiés et système de 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réservation intégré.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17806"/>
            <a:ext cx="4830438" cy="4876324"/>
            <a:chOff x="0" y="0"/>
            <a:chExt cx="1272159" cy="12843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2159" cy="1284351"/>
            </a:xfrm>
            <a:custGeom>
              <a:avLst/>
              <a:gdLst/>
              <a:ahLst/>
              <a:cxnLst/>
              <a:rect r="r" b="b" t="t" l="l"/>
              <a:pathLst>
                <a:path h="1284351" w="1272159">
                  <a:moveTo>
                    <a:pt x="1272159" y="113794"/>
                  </a:moveTo>
                  <a:lnTo>
                    <a:pt x="1272159" y="1170557"/>
                  </a:lnTo>
                  <a:cubicBezTo>
                    <a:pt x="1272159" y="1233403"/>
                    <a:pt x="1221212" y="1284351"/>
                    <a:pt x="1158365" y="1284351"/>
                  </a:cubicBezTo>
                  <a:lnTo>
                    <a:pt x="113794" y="1284351"/>
                  </a:lnTo>
                  <a:cubicBezTo>
                    <a:pt x="83614" y="1284351"/>
                    <a:pt x="54670" y="1272362"/>
                    <a:pt x="33330" y="1251021"/>
                  </a:cubicBezTo>
                  <a:cubicBezTo>
                    <a:pt x="11989" y="1229681"/>
                    <a:pt x="0" y="1200737"/>
                    <a:pt x="0" y="1170557"/>
                  </a:cubicBezTo>
                  <a:lnTo>
                    <a:pt x="0" y="113794"/>
                  </a:lnTo>
                  <a:cubicBezTo>
                    <a:pt x="0" y="50947"/>
                    <a:pt x="50947" y="0"/>
                    <a:pt x="113794" y="0"/>
                  </a:cubicBezTo>
                  <a:lnTo>
                    <a:pt x="1158365" y="0"/>
                  </a:lnTo>
                  <a:cubicBezTo>
                    <a:pt x="1188545" y="0"/>
                    <a:pt x="1217489" y="11989"/>
                    <a:pt x="1238829" y="33330"/>
                  </a:cubicBezTo>
                  <a:cubicBezTo>
                    <a:pt x="1260170" y="54670"/>
                    <a:pt x="1272159" y="83614"/>
                    <a:pt x="1272159" y="113794"/>
                  </a:cubicBezTo>
                  <a:close/>
                </a:path>
              </a:pathLst>
            </a:custGeom>
            <a:solidFill>
              <a:srgbClr val="C1D2A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272159" cy="1341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28781" y="3517806"/>
            <a:ext cx="4830438" cy="4876324"/>
            <a:chOff x="0" y="0"/>
            <a:chExt cx="1272159" cy="1284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2159" cy="1284351"/>
            </a:xfrm>
            <a:custGeom>
              <a:avLst/>
              <a:gdLst/>
              <a:ahLst/>
              <a:cxnLst/>
              <a:rect r="r" b="b" t="t" l="l"/>
              <a:pathLst>
                <a:path h="1284351" w="1272159">
                  <a:moveTo>
                    <a:pt x="1272159" y="134630"/>
                  </a:moveTo>
                  <a:lnTo>
                    <a:pt x="1272159" y="1149721"/>
                  </a:lnTo>
                  <a:cubicBezTo>
                    <a:pt x="1272159" y="1224075"/>
                    <a:pt x="1211883" y="1284351"/>
                    <a:pt x="1137529" y="1284351"/>
                  </a:cubicBezTo>
                  <a:lnTo>
                    <a:pt x="134630" y="1284351"/>
                  </a:lnTo>
                  <a:cubicBezTo>
                    <a:pt x="98924" y="1284351"/>
                    <a:pt x="64680" y="1270167"/>
                    <a:pt x="39432" y="1244919"/>
                  </a:cubicBezTo>
                  <a:cubicBezTo>
                    <a:pt x="14184" y="1219671"/>
                    <a:pt x="0" y="1185427"/>
                    <a:pt x="0" y="1149721"/>
                  </a:cubicBezTo>
                  <a:lnTo>
                    <a:pt x="0" y="134630"/>
                  </a:lnTo>
                  <a:cubicBezTo>
                    <a:pt x="0" y="98924"/>
                    <a:pt x="14184" y="64680"/>
                    <a:pt x="39432" y="39432"/>
                  </a:cubicBezTo>
                  <a:cubicBezTo>
                    <a:pt x="64680" y="14184"/>
                    <a:pt x="98924" y="0"/>
                    <a:pt x="134630" y="0"/>
                  </a:cubicBezTo>
                  <a:lnTo>
                    <a:pt x="1137529" y="0"/>
                  </a:lnTo>
                  <a:cubicBezTo>
                    <a:pt x="1173235" y="0"/>
                    <a:pt x="1207479" y="14184"/>
                    <a:pt x="1232727" y="39432"/>
                  </a:cubicBezTo>
                  <a:cubicBezTo>
                    <a:pt x="1257975" y="64680"/>
                    <a:pt x="1272159" y="98924"/>
                    <a:pt x="1272159" y="134630"/>
                  </a:cubicBezTo>
                  <a:close/>
                </a:path>
              </a:pathLst>
            </a:custGeom>
            <a:solidFill>
              <a:srgbClr val="C1D2A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272159" cy="1341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428862" y="3517806"/>
            <a:ext cx="4830438" cy="4876324"/>
            <a:chOff x="0" y="0"/>
            <a:chExt cx="1272159" cy="12843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2159" cy="1284351"/>
            </a:xfrm>
            <a:custGeom>
              <a:avLst/>
              <a:gdLst/>
              <a:ahLst/>
              <a:cxnLst/>
              <a:rect r="r" b="b" t="t" l="l"/>
              <a:pathLst>
                <a:path h="1284351" w="1272159">
                  <a:moveTo>
                    <a:pt x="1272159" y="112192"/>
                  </a:moveTo>
                  <a:lnTo>
                    <a:pt x="1272159" y="1172159"/>
                  </a:lnTo>
                  <a:cubicBezTo>
                    <a:pt x="1272159" y="1234121"/>
                    <a:pt x="1221929" y="1284351"/>
                    <a:pt x="1159967" y="1284351"/>
                  </a:cubicBezTo>
                  <a:lnTo>
                    <a:pt x="112192" y="1284351"/>
                  </a:lnTo>
                  <a:cubicBezTo>
                    <a:pt x="82437" y="1284351"/>
                    <a:pt x="53900" y="1272531"/>
                    <a:pt x="32860" y="1251491"/>
                  </a:cubicBezTo>
                  <a:cubicBezTo>
                    <a:pt x="11820" y="1230451"/>
                    <a:pt x="0" y="1201914"/>
                    <a:pt x="0" y="1172159"/>
                  </a:cubicBezTo>
                  <a:lnTo>
                    <a:pt x="0" y="112192"/>
                  </a:lnTo>
                  <a:cubicBezTo>
                    <a:pt x="0" y="82437"/>
                    <a:pt x="11820" y="53900"/>
                    <a:pt x="32860" y="32860"/>
                  </a:cubicBezTo>
                  <a:cubicBezTo>
                    <a:pt x="53900" y="11820"/>
                    <a:pt x="82437" y="0"/>
                    <a:pt x="112192" y="0"/>
                  </a:cubicBezTo>
                  <a:lnTo>
                    <a:pt x="1159967" y="0"/>
                  </a:lnTo>
                  <a:cubicBezTo>
                    <a:pt x="1189722" y="0"/>
                    <a:pt x="1218259" y="11820"/>
                    <a:pt x="1239299" y="32860"/>
                  </a:cubicBezTo>
                  <a:cubicBezTo>
                    <a:pt x="1260339" y="53900"/>
                    <a:pt x="1272159" y="82437"/>
                    <a:pt x="1272159" y="112192"/>
                  </a:cubicBezTo>
                  <a:close/>
                </a:path>
              </a:pathLst>
            </a:custGeom>
            <a:solidFill>
              <a:srgbClr val="C1D2A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272159" cy="1341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538415" y="3660505"/>
            <a:ext cx="1211171" cy="1261636"/>
          </a:xfrm>
          <a:custGeom>
            <a:avLst/>
            <a:gdLst/>
            <a:ahLst/>
            <a:cxnLst/>
            <a:rect r="r" b="b" t="t" l="l"/>
            <a:pathLst>
              <a:path h="1261636" w="1211171">
                <a:moveTo>
                  <a:pt x="0" y="0"/>
                </a:moveTo>
                <a:lnTo>
                  <a:pt x="1211170" y="0"/>
                </a:lnTo>
                <a:lnTo>
                  <a:pt x="1211170" y="1261636"/>
                </a:lnTo>
                <a:lnTo>
                  <a:pt x="0" y="1261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271614" y="3660505"/>
            <a:ext cx="1144935" cy="1261636"/>
          </a:xfrm>
          <a:custGeom>
            <a:avLst/>
            <a:gdLst/>
            <a:ahLst/>
            <a:cxnLst/>
            <a:rect r="r" b="b" t="t" l="l"/>
            <a:pathLst>
              <a:path h="1261636" w="1144935">
                <a:moveTo>
                  <a:pt x="0" y="0"/>
                </a:moveTo>
                <a:lnTo>
                  <a:pt x="1144935" y="0"/>
                </a:lnTo>
                <a:lnTo>
                  <a:pt x="1144935" y="1261636"/>
                </a:lnTo>
                <a:lnTo>
                  <a:pt x="0" y="12616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661316" y="500972"/>
            <a:ext cx="1707241" cy="2022052"/>
          </a:xfrm>
          <a:custGeom>
            <a:avLst/>
            <a:gdLst/>
            <a:ahLst/>
            <a:cxnLst/>
            <a:rect r="r" b="b" t="t" l="l"/>
            <a:pathLst>
              <a:path h="2022052" w="1707241">
                <a:moveTo>
                  <a:pt x="0" y="0"/>
                </a:moveTo>
                <a:lnTo>
                  <a:pt x="1707241" y="0"/>
                </a:lnTo>
                <a:lnTo>
                  <a:pt x="1707241" y="2022052"/>
                </a:lnTo>
                <a:lnTo>
                  <a:pt x="0" y="20220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74788" y="895350"/>
            <a:ext cx="9343670" cy="1153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27"/>
              </a:lnSpc>
              <a:spcBef>
                <a:spcPct val="0"/>
              </a:spcBef>
            </a:pPr>
            <a:r>
              <a:rPr lang="en-US" b="true" sz="6733">
                <a:solidFill>
                  <a:srgbClr val="1D64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| LA VALEUR AJOUTÉE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46604" y="4864991"/>
            <a:ext cx="239463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75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Gain de temps</a:t>
            </a:r>
            <a:r>
              <a:rPr lang="en-US" sz="2600">
                <a:solidFill>
                  <a:srgbClr val="007547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56839" y="5113722"/>
            <a:ext cx="2774322" cy="448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75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Réduire les coûts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59202" y="5113722"/>
            <a:ext cx="2969759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75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Innovation sociale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3611" y="5467095"/>
            <a:ext cx="4340616" cy="262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8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Sécurité patient accrue : Prévention active des erreurs de prescription grâce à l'analyse intelligente des interactions médicamenteuses par l'IA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28781" y="5723072"/>
            <a:ext cx="4830438" cy="198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9" spc="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Efficacité et gain de temps :</a:t>
            </a:r>
          </a:p>
          <a:p>
            <a:pPr algn="ctr">
              <a:lnSpc>
                <a:spcPts val="3218"/>
              </a:lnSpc>
              <a:spcBef>
                <a:spcPct val="0"/>
              </a:spcBef>
            </a:pPr>
            <a:r>
              <a:rPr lang="en-US" sz="2299" spc="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Interface utilisateur moderne et intuitive permettant une saisie rapide et une consultation fluide des dossiers médicaux.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45912" y="5762057"/>
            <a:ext cx="4596338" cy="2039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2"/>
              </a:lnSpc>
              <a:spcBef>
                <a:spcPct val="0"/>
              </a:spcBef>
            </a:pPr>
            <a:r>
              <a:rPr lang="en-US" sz="29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Centralisation fiable : Un seul environnement sécurisé pour gérer les inscriptions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2948521" y="3660505"/>
            <a:ext cx="990796" cy="1173496"/>
          </a:xfrm>
          <a:custGeom>
            <a:avLst/>
            <a:gdLst/>
            <a:ahLst/>
            <a:cxnLst/>
            <a:rect r="r" b="b" t="t" l="l"/>
            <a:pathLst>
              <a:path h="1173496" w="990796">
                <a:moveTo>
                  <a:pt x="0" y="0"/>
                </a:moveTo>
                <a:lnTo>
                  <a:pt x="990796" y="0"/>
                </a:lnTo>
                <a:lnTo>
                  <a:pt x="990796" y="1173496"/>
                </a:lnTo>
                <a:lnTo>
                  <a:pt x="0" y="11734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41543" y="1028700"/>
            <a:ext cx="1817757" cy="2152946"/>
          </a:xfrm>
          <a:custGeom>
            <a:avLst/>
            <a:gdLst/>
            <a:ahLst/>
            <a:cxnLst/>
            <a:rect r="r" b="b" t="t" l="l"/>
            <a:pathLst>
              <a:path h="2152946" w="1817757">
                <a:moveTo>
                  <a:pt x="0" y="0"/>
                </a:moveTo>
                <a:lnTo>
                  <a:pt x="1817757" y="0"/>
                </a:lnTo>
                <a:lnTo>
                  <a:pt x="1817757" y="2152946"/>
                </a:lnTo>
                <a:lnTo>
                  <a:pt x="0" y="21529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8451" y="3025058"/>
            <a:ext cx="7465771" cy="6405543"/>
            <a:chOff x="0" y="0"/>
            <a:chExt cx="947332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47332" cy="812800"/>
            </a:xfrm>
            <a:custGeom>
              <a:avLst/>
              <a:gdLst/>
              <a:ahLst/>
              <a:cxnLst/>
              <a:rect r="r" b="b" t="t" l="l"/>
              <a:pathLst>
                <a:path h="812800" w="947332">
                  <a:moveTo>
                    <a:pt x="473666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744132" y="0"/>
                  </a:lnTo>
                  <a:lnTo>
                    <a:pt x="744132" y="406400"/>
                  </a:lnTo>
                  <a:lnTo>
                    <a:pt x="947332" y="406400"/>
                  </a:lnTo>
                  <a:lnTo>
                    <a:pt x="473666" y="812800"/>
                  </a:lnTo>
                  <a:close/>
                </a:path>
              </a:pathLst>
            </a:custGeom>
            <a:solidFill>
              <a:srgbClr val="C1D2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203200" y="-57150"/>
              <a:ext cx="540932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18451" y="914400"/>
            <a:ext cx="9688519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0"/>
              </a:lnSpc>
              <a:spcBef>
                <a:spcPct val="0"/>
              </a:spcBef>
            </a:pPr>
            <a:r>
              <a:rPr lang="en-US" b="true" sz="5700">
                <a:solidFill>
                  <a:srgbClr val="1D64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| ANALYSE COMPARATIVE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85335" y="3262248"/>
            <a:ext cx="4332003" cy="3564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9"/>
              </a:lnSpc>
            </a:pPr>
            <a:r>
              <a:rPr lang="en-US" sz="342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don le marche : </a:t>
            </a:r>
          </a:p>
          <a:p>
            <a:pPr algn="ctr">
              <a:lnSpc>
                <a:spcPts val="4789"/>
              </a:lnSpc>
              <a:spcBef>
                <a:spcPct val="0"/>
              </a:spcBef>
            </a:pPr>
            <a:r>
              <a:rPr lang="en-US" sz="34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il exsiste des   l’ogisiale locale manque de spécificité med ou farmasi</a:t>
            </a:r>
          </a:p>
        </p:txBody>
      </p:sp>
      <p:grpSp>
        <p:nvGrpSpPr>
          <p:cNvPr name="Group 8" id="8"/>
          <p:cNvGrpSpPr/>
          <p:nvPr/>
        </p:nvGrpSpPr>
        <p:grpSpPr>
          <a:xfrm rot="-10800000">
            <a:off x="9659981" y="2745022"/>
            <a:ext cx="7599319" cy="6520126"/>
            <a:chOff x="0" y="0"/>
            <a:chExt cx="947332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47332" cy="812800"/>
            </a:xfrm>
            <a:custGeom>
              <a:avLst/>
              <a:gdLst/>
              <a:ahLst/>
              <a:cxnLst/>
              <a:rect r="r" b="b" t="t" l="l"/>
              <a:pathLst>
                <a:path h="812800" w="947332">
                  <a:moveTo>
                    <a:pt x="473666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744132" y="0"/>
                  </a:lnTo>
                  <a:lnTo>
                    <a:pt x="744132" y="406400"/>
                  </a:lnTo>
                  <a:lnTo>
                    <a:pt x="947332" y="406400"/>
                  </a:lnTo>
                  <a:lnTo>
                    <a:pt x="473666" y="812800"/>
                  </a:lnTo>
                  <a:close/>
                </a:path>
              </a:pathLst>
            </a:custGeom>
            <a:solidFill>
              <a:srgbClr val="C1D2A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203200" y="-57150"/>
              <a:ext cx="540932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421572" y="6189730"/>
            <a:ext cx="4076138" cy="306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8"/>
              </a:lnSpc>
            </a:pPr>
            <a:r>
              <a:rPr lang="en-US" sz="2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Différenciation</a:t>
            </a:r>
            <a:r>
              <a:rPr lang="en-US" sz="21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« MedSafe n'est pas qu'une simple base de données don un sele domaine , c'est un écosystème qui met en relation le patient, le pharmacien et le médecin. »</a:t>
            </a:r>
          </a:p>
          <a:p>
            <a:pPr algn="ctr">
              <a:lnSpc>
                <a:spcPts val="307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38908" y="1764005"/>
            <a:ext cx="9610184" cy="6758990"/>
          </a:xfrm>
          <a:custGeom>
            <a:avLst/>
            <a:gdLst/>
            <a:ahLst/>
            <a:cxnLst/>
            <a:rect r="r" b="b" t="t" l="l"/>
            <a:pathLst>
              <a:path h="6758990" w="9610184">
                <a:moveTo>
                  <a:pt x="0" y="0"/>
                </a:moveTo>
                <a:lnTo>
                  <a:pt x="9610184" y="0"/>
                </a:lnTo>
                <a:lnTo>
                  <a:pt x="9610184" y="6758990"/>
                </a:lnTo>
                <a:lnTo>
                  <a:pt x="0" y="6758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5" r="0" b="-22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86393"/>
            <a:ext cx="8285150" cy="1151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6"/>
              </a:lnSpc>
              <a:spcBef>
                <a:spcPct val="0"/>
              </a:spcBef>
            </a:pPr>
            <a:r>
              <a:rPr lang="en-US" b="true" sz="6719">
                <a:solidFill>
                  <a:srgbClr val="1D64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| BUSINESS MODEL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704679" y="5394177"/>
            <a:ext cx="14979139" cy="0"/>
          </a:xfrm>
          <a:prstGeom prst="line">
            <a:avLst/>
          </a:prstGeom>
          <a:ln cap="flat" w="142875">
            <a:solidFill>
              <a:srgbClr val="007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540153" y="0"/>
            <a:ext cx="1747847" cy="2175977"/>
          </a:xfrm>
          <a:custGeom>
            <a:avLst/>
            <a:gdLst/>
            <a:ahLst/>
            <a:cxnLst/>
            <a:rect r="r" b="b" t="t" l="l"/>
            <a:pathLst>
              <a:path h="2175977" w="1747847">
                <a:moveTo>
                  <a:pt x="0" y="0"/>
                </a:moveTo>
                <a:lnTo>
                  <a:pt x="1747847" y="0"/>
                </a:lnTo>
                <a:lnTo>
                  <a:pt x="1747847" y="2175977"/>
                </a:lnTo>
                <a:lnTo>
                  <a:pt x="0" y="2175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59" r="-8810" b="-175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4182" y="6781442"/>
            <a:ext cx="15227957" cy="9936242"/>
          </a:xfrm>
          <a:custGeom>
            <a:avLst/>
            <a:gdLst/>
            <a:ahLst/>
            <a:cxnLst/>
            <a:rect r="r" b="b" t="t" l="l"/>
            <a:pathLst>
              <a:path h="9936242" w="15227957">
                <a:moveTo>
                  <a:pt x="0" y="0"/>
                </a:moveTo>
                <a:lnTo>
                  <a:pt x="15227957" y="0"/>
                </a:lnTo>
                <a:lnTo>
                  <a:pt x="15227957" y="9936242"/>
                </a:lnTo>
                <a:lnTo>
                  <a:pt x="0" y="99362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-123825"/>
            <a:ext cx="11386036" cy="1103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20"/>
              </a:lnSpc>
              <a:spcBef>
                <a:spcPct val="0"/>
              </a:spcBef>
            </a:pPr>
            <a:r>
              <a:rPr lang="en-US" b="true" sz="6514">
                <a:solidFill>
                  <a:srgbClr val="1D64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| DEVELOPMENT ROADMAP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58581" y="3650911"/>
            <a:ext cx="800232" cy="3000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46"/>
              </a:lnSpc>
              <a:spcBef>
                <a:spcPct val="0"/>
              </a:spcBef>
            </a:pPr>
            <a:r>
              <a:rPr lang="en-US" sz="17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89447" y="4535373"/>
            <a:ext cx="2688076" cy="54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b="true" sz="3161">
                <a:solidFill>
                  <a:srgbClr val="0075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1: MVP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4182" y="5871937"/>
            <a:ext cx="3258607" cy="58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5"/>
              </a:lnSpc>
              <a:spcBef>
                <a:spcPct val="0"/>
              </a:spcBef>
            </a:pPr>
            <a:r>
              <a:rPr lang="en-US" b="true" sz="170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Chatbot IA, rappels et bibliothèque d'articles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47384" y="3650911"/>
            <a:ext cx="629709" cy="2992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13"/>
              </a:lnSpc>
              <a:spcBef>
                <a:spcPct val="0"/>
              </a:spcBef>
            </a:pPr>
            <a:r>
              <a:rPr lang="en-US" b="true" sz="1750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13189" y="6020021"/>
            <a:ext cx="3499903" cy="54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b="true" sz="3161">
                <a:solidFill>
                  <a:srgbClr val="0075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2 : network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82346" y="4274916"/>
            <a:ext cx="3422002" cy="66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3"/>
              </a:lnSpc>
            </a:pPr>
            <a:r>
              <a:rPr lang="en-US" sz="194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Recherche de pharmacies et</a:t>
            </a:r>
          </a:p>
          <a:p>
            <a:pPr algn="ctr">
              <a:lnSpc>
                <a:spcPts val="2723"/>
              </a:lnSpc>
              <a:spcBef>
                <a:spcPct val="0"/>
              </a:spcBef>
            </a:pPr>
            <a:r>
              <a:rPr lang="en-US" b="true" sz="194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Intégration des stocks.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25103" y="3569770"/>
            <a:ext cx="799143" cy="2992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13"/>
              </a:lnSpc>
              <a:spcBef>
                <a:spcPct val="0"/>
              </a:spcBef>
            </a:pPr>
            <a:r>
              <a:rPr lang="en-US" sz="1750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75136" y="4339255"/>
            <a:ext cx="3499076" cy="54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b="true" sz="3161">
                <a:solidFill>
                  <a:srgbClr val="0075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3 : Booking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89954" y="5786538"/>
            <a:ext cx="3269440" cy="66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3"/>
              </a:lnSpc>
            </a:pPr>
            <a:r>
              <a:rPr lang="en-US" sz="194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Systèmes de réservation et</a:t>
            </a:r>
          </a:p>
          <a:p>
            <a:pPr algn="ctr">
              <a:lnSpc>
                <a:spcPts val="2723"/>
              </a:lnSpc>
              <a:spcBef>
                <a:spcPct val="0"/>
              </a:spcBef>
            </a:pPr>
            <a:r>
              <a:rPr lang="en-US" b="true" sz="194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d'avis de médecins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49334" y="3658753"/>
            <a:ext cx="816515" cy="2992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13"/>
              </a:lnSpc>
              <a:spcBef>
                <a:spcPct val="0"/>
              </a:spcBef>
            </a:pPr>
            <a:r>
              <a:rPr lang="en-US" b="true" sz="1750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98530" y="5636201"/>
            <a:ext cx="2748260" cy="54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b="true" sz="3161">
                <a:solidFill>
                  <a:srgbClr val="0075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4 : files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31480" y="4404132"/>
            <a:ext cx="3090611" cy="58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70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Analyse complète du dossier </a:t>
            </a:r>
          </a:p>
          <a:p>
            <a:pPr algn="ctr">
              <a:lnSpc>
                <a:spcPts val="2383"/>
              </a:lnSpc>
              <a:spcBef>
                <a:spcPct val="0"/>
              </a:spcBef>
            </a:pPr>
            <a:r>
              <a:rPr lang="en-US" b="true" sz="170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médical par IA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38948" y="21095"/>
            <a:ext cx="2040704" cy="2417004"/>
          </a:xfrm>
          <a:custGeom>
            <a:avLst/>
            <a:gdLst/>
            <a:ahLst/>
            <a:cxnLst/>
            <a:rect r="r" b="b" t="t" l="l"/>
            <a:pathLst>
              <a:path h="2417004" w="2040704">
                <a:moveTo>
                  <a:pt x="0" y="0"/>
                </a:moveTo>
                <a:lnTo>
                  <a:pt x="2040704" y="0"/>
                </a:lnTo>
                <a:lnTo>
                  <a:pt x="2040704" y="2417004"/>
                </a:lnTo>
                <a:lnTo>
                  <a:pt x="0" y="24170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8609" y="21095"/>
            <a:ext cx="2040704" cy="2417004"/>
          </a:xfrm>
          <a:custGeom>
            <a:avLst/>
            <a:gdLst/>
            <a:ahLst/>
            <a:cxnLst/>
            <a:rect r="r" b="b" t="t" l="l"/>
            <a:pathLst>
              <a:path h="2417004" w="2040704">
                <a:moveTo>
                  <a:pt x="0" y="0"/>
                </a:moveTo>
                <a:lnTo>
                  <a:pt x="2040704" y="0"/>
                </a:lnTo>
                <a:lnTo>
                  <a:pt x="2040704" y="2417004"/>
                </a:lnTo>
                <a:lnTo>
                  <a:pt x="0" y="24170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880210" y="2637493"/>
            <a:ext cx="4527580" cy="128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54"/>
              </a:lnSpc>
              <a:spcBef>
                <a:spcPct val="0"/>
              </a:spcBef>
            </a:pPr>
            <a:r>
              <a:rPr lang="en-US" b="true" sz="7610">
                <a:solidFill>
                  <a:srgbClr val="1D64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Question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57401" y="5239270"/>
            <a:ext cx="1097319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Merci pour votre attention. Ensemble, sécurisons le futur de la santé.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68525" y="9201150"/>
            <a:ext cx="4690775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7547"/>
                </a:solidFill>
                <a:latin typeface="Canva Sans"/>
                <a:ea typeface="Canva Sans"/>
                <a:cs typeface="Canva Sans"/>
                <a:sym typeface="Canva Sans"/>
              </a:rPr>
              <a:t>3t power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9635" y="9469005"/>
            <a:ext cx="3519357" cy="332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8"/>
              </a:lnSpc>
              <a:spcBef>
                <a:spcPct val="0"/>
              </a:spcBef>
            </a:pPr>
            <a:r>
              <a:rPr lang="en-US" b="true" sz="2063">
                <a:solidFill>
                  <a:srgbClr val="0075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Pour des médicaments sûrs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DAHIJk79DZE</dc:identifier>
  <dcterms:modified xsi:type="dcterms:W3CDTF">2011-08-01T06:04:30Z</dcterms:modified>
  <cp:revision>1</cp:revision>
  <dc:title>entreprise</dc:title>
</cp:coreProperties>
</file>